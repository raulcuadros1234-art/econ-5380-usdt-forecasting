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3A5F"/>
                </a:solidFill>
                <a:latin typeface="Arial"/>
              </a:rPr>
              <a:t>Risk Factor → Max De-peg (basis points)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De-peg Risk (bps)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Regulatory Shock (P=0.8)</c:v>
                  </c:pt>
                  <c:pt idx="1">
                    <c:v>Exchange Insolvency</c:v>
                  </c:pt>
                  <c:pt idx="2">
                    <c:v>Volume Spike (×5)</c:v>
                  </c:pt>
                  <c:pt idx="3">
                    <c:v>Reserve Transparency Drop</c:v>
                  </c:pt>
                  <c:pt idx="4">
                    <c:v>Market Fear (Index=5)</c:v>
                  </c:pt>
                  <c:pt idx="5">
                    <c:v>USD Fed Rate +100bps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68.3</c:v>
                </c:pt>
                <c:pt idx="1">
                  <c:v>55</c:v>
                </c:pt>
                <c:pt idx="2">
                  <c:v>42.5</c:v>
                </c:pt>
                <c:pt idx="3">
                  <c:v>31.2</c:v>
                </c:pt>
                <c:pt idx="4">
                  <c:v>11</c:v>
                </c:pt>
                <c:pt idx="5">
                  <c:v>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Exchange Collapse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85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80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Volume Spike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85</c:v>
                </c:pt>
              </c:numCache>
            </c:numRef>
          </c:xVal>
          <c:yVal>
            <c:numRef>
              <c:f>Sheet1!$C$2:$C$2</c:f>
              <c:numCache>
                <c:formatCode>General</c:formatCode>
                <c:ptCount val="1"/>
                <c:pt idx="0">
                  <c:v>45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Reserve Doubt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85</c:v>
                </c:pt>
              </c:numCache>
            </c:numRef>
          </c:xVal>
          <c:yVal>
            <c:numRef>
              <c:f>Sheet1!$D$2:$D$2</c:f>
              <c:numCache>
                <c:formatCode>General</c:formatCode>
                <c:ptCount val="1"/>
                <c:pt idx="0">
                  <c:v>65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Fed Rate Hike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85</c:v>
                </c:pt>
              </c:numCache>
            </c:numRef>
          </c:xVal>
          <c:yVal>
            <c:numRef>
              <c:f>Sheet1!$E$2:$E$2</c:f>
              <c:numCache>
                <c:formatCode>General</c:formatCode>
                <c:ptCount val="1"/>
                <c:pt idx="0">
                  <c:v>20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Sentiment Shift</c:v>
                </c:pt>
              </c:strCache>
            </c:strRef>
          </c:tx>
          <c:spPr>
            <a:solidFill>
              <a:srgbClr val="16A34A"/>
            </a:solidFill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xVal>
            <c:numRef>
              <c:f>Sheet1!$A$2:$A$2</c:f>
              <c:numCache>
                <c:formatCode>General</c:formatCode>
                <c:ptCount val="1"/>
                <c:pt idx="0">
                  <c:v>85</c:v>
                </c:pt>
              </c:numCache>
            </c:numRef>
          </c:xVal>
          <c:yVal>
            <c:numRef>
              <c:f>Sheet1!$F$2:$F$2</c:f>
              <c:numCache>
                <c:formatCode>General</c:formatCode>
                <c:ptCount val="1"/>
                <c:pt idx="0">
                  <c:v>15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1371600"/>
            <a:ext cx="1097280" cy="1097280"/>
          </a:xfrm>
          <a:prstGeom prst="ellipse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$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377440" y="1188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 Price Forecasting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377440" y="19659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De-peg Risk Analysis &amp; Scenario Modelling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77440" y="2606040"/>
            <a:ext cx="6217920" cy="36576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ECON5380 Group Project  •  </a:t>
            </a:r>
            <a:pPr indent="0" marL="0">
              <a:buNone/>
            </a:pPr>
            <a:r>
              <a:rPr lang="en-US" sz="140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3: Tether (USDT)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0" y="3154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 •  3 Scenarios  •  Sensitivity Analysis  •  Streamlit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2011680" cy="777240"/>
          </a:xfrm>
          <a:prstGeom prst="rect">
            <a:avLst/>
          </a:prstGeom>
          <a:solidFill>
            <a:srgbClr val="162D47"/>
          </a:solidFill>
          <a:ln w="12700">
            <a:solidFill>
              <a:srgbClr val="2E4F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97480" y="4114800"/>
            <a:ext cx="2011680" cy="777240"/>
          </a:xfrm>
          <a:prstGeom prst="rect">
            <a:avLst/>
          </a:prstGeom>
          <a:solidFill>
            <a:srgbClr val="162D47"/>
          </a:solidFill>
          <a:ln w="12700">
            <a:solidFill>
              <a:srgbClr val="2E4F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97480" y="4526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4114800"/>
            <a:ext cx="2011680" cy="777240"/>
          </a:xfrm>
          <a:prstGeom prst="rect">
            <a:avLst/>
          </a:prstGeom>
          <a:solidFill>
            <a:srgbClr val="162D47"/>
          </a:solidFill>
          <a:ln w="12700">
            <a:solidFill>
              <a:srgbClr val="2E4F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$50B+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37760" y="4526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Volume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78040" y="4114800"/>
            <a:ext cx="2011680" cy="777240"/>
          </a:xfrm>
          <a:prstGeom prst="rect">
            <a:avLst/>
          </a:prstGeom>
          <a:solidFill>
            <a:srgbClr val="162D47"/>
          </a:solidFill>
          <a:ln w="12700">
            <a:solidFill>
              <a:srgbClr val="2E4F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7804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78040" y="45262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Window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937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9966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3075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notebook with ARIMA, Prophet &amp; LSTM models + performance comparison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937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2024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19568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6771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macro scenarios (Bull/Base/Bear), sensitivity analysis, 1-page risk writeup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4937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88036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91693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2278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with live scenario simulation and real-time risk gauge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4937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840480"/>
            <a:ext cx="548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38770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41879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deck + 1-page policy/business recommendation writeup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Schema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325880"/>
          <a:ext cx="3200400" cy="3474720"/>
        </p:xfrm>
        <a:graphic>
          <a:graphicData uri="http://schemas.openxmlformats.org/drawingml/2006/table">
            <a:tbl>
              <a:tblPr/>
              <a:tblGrid>
                <a:gridCol w="2468880"/>
                <a:gridCol w="731520"/>
              </a:tblGrid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Creativity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Streamlit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Slides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6A1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Forecast a Stablecoin?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9659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196596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Zero-Risk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1783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$1.00 peg, USDT de-pegs during market stress — up to 80bps during FTX collapse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6312" y="1188720"/>
            <a:ext cx="19659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96312" y="1188720"/>
            <a:ext cx="196596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188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Role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87752" y="1600200"/>
            <a:ext cx="1783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stablecoin by volume. Used as base pair on every major exchange. A de-peg = market freeze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72584" y="1188720"/>
            <a:ext cx="19659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2584" y="1188720"/>
            <a:ext cx="1965960" cy="320040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1188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64024" y="1600200"/>
            <a:ext cx="1783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De-peg magnitude is driven by quantifiable factors: volume spikes, fear index, regulatory news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48856" y="1188720"/>
            <a:ext cx="196596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48856" y="1188720"/>
            <a:ext cx="19659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48856" y="11887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40296" y="1600200"/>
            <a:ext cx="1783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holding USDT treasuries need peg-risk monitoring — this project builds that system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FEF9C3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USDT peg stability = 99.9% normally | Risk is in the 0.1% tail — and that tail is what we model.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Period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– Dec 2024 (3 years, 1,096 days)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842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Features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prices, De-peg bps, 7-day volatility, volume 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426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Events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8712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 collapse, FTX bankruptcy, SVB banking crisis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009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Split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529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Jan 2022–Sep 2024 | Test: Oct–Dec 2024 (90 days)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13632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593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Source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187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/ CoinGecko API (USDT-USD daily prices)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Pipeline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1261872"/>
            <a:ext cx="4114800" cy="502920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12618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17373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883664"/>
            <a:ext cx="4114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188366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Engineering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23591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505456"/>
            <a:ext cx="41148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250545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ARIMA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92240" y="298094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127248"/>
            <a:ext cx="41148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63440" y="31272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Prophet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360273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749040"/>
            <a:ext cx="411480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63440" y="37490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LSTM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92240" y="4224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4370832"/>
            <a:ext cx="411480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663440" y="43708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Comparison + Scenarios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51760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651760" cy="502920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ARIMA(2,0,2)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719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0.000412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95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2295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0.000583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712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25880" y="28712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0.0412%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4472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3447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2377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59936"/>
            <a:ext cx="23774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224528"/>
            <a:ext cx="2377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precision, interpretable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1097280"/>
            <a:ext cx="2651760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097280"/>
            <a:ext cx="26517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612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Facebook Prophet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17190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51960" y="1719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0.000587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2295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51960" y="2295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0.000712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28712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51960" y="28712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0.0587%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4472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51960" y="3447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83280" y="4041648"/>
            <a:ext cx="2377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4059936"/>
            <a:ext cx="23774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83280" y="4224528"/>
            <a:ext cx="2377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Event-adjusted, seasonality-aware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1097280"/>
            <a:ext cx="2651760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1097280"/>
            <a:ext cx="265176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LSTM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17190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78040" y="1719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0.000351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2295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78040" y="22951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0.000478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28712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178040" y="28712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0.0351%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34472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78040" y="3447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09360" y="4041648"/>
            <a:ext cx="2377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4059936"/>
            <a:ext cx="237744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4224528"/>
            <a:ext cx="23774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accuracy, non-linear patterns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4892040"/>
            <a:ext cx="8503920" cy="16459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01184"/>
            <a:ext cx="8229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Recommendation: Ensemble approach — LSTM for accuracy, Prophet for events, ARIMA for real-time speed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Analysis: 90-Day Forecast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96112"/>
            <a:ext cx="2697480" cy="4069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269748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961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🐂 Bull Scenario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market rally, high liquidity, no regulatory shock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Fear &amp; Greed Index &gt; 70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major exchange incidents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9077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Tether reserve audit positive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32552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Fed rate hold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657600"/>
            <a:ext cx="25146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657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De-peg: &lt; 5 bps de-peg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9593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LOW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896112"/>
            <a:ext cx="2697480" cy="406908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896112"/>
            <a:ext cx="269748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8961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Base Scenario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14173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market conditions, minor volatility events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19659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21284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Fear index 40–60 range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2560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Routine volume fluctuations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29077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systemic shocks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32552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Gradual regulatory clarity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3657600"/>
            <a:ext cx="2514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657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De-peg: 5–15 bps de-peg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39593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MEDIUM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896112"/>
            <a:ext cx="2697480" cy="40690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896112"/>
            <a:ext cx="269748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8961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🐻 Bear Scenario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263640" y="141732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exchange collapse / regulatory ban triggers redemption panic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19659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21284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Exchange insolvency event ~Day 30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2560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Volume spike 4–5× average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63640" y="29077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Fear index drops to &lt; 15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63640" y="32552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Emergency redemptions surge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63640" y="3657600"/>
            <a:ext cx="25146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657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De-peg: 30–80 bps de-peg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395935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HIGH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983480"/>
            <a:ext cx="8503920" cy="73152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005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852160" y="1463040"/>
            <a:ext cx="301752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508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HIGH RISK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Regulatory actions (68 bps)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0" y="2084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Exchange insolvency (55 bps)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2651760"/>
            <a:ext cx="301752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6974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MEDIUM RISK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2971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Volume spikes &gt;2.5× (42 bps)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3273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Reserve transparency (31 bps)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3840480"/>
            <a:ext cx="301752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886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LOW RISK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0" y="4160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 fear index (11 bps)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943600" y="44622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Fed rate changes (8.5 bps)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52160" y="4297680"/>
            <a:ext cx="3017520" cy="502920"/>
          </a:xfrm>
          <a:prstGeom prst="rect">
            <a:avLst/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Alert threshold: 50 bps = Severe de-peg requiring emergency action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Interpretation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Probability vs Impact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Risk Summary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13258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daily de-peg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589520" y="1371600"/>
            <a:ext cx="109728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1371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bps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92024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9659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observed (FTX)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589520" y="2011680"/>
            <a:ext cx="10972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2011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bps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56032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6060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P(&gt;20 bps) in 90 days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589520" y="2651760"/>
            <a:ext cx="109728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26517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320040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32461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P(&gt;50 bps) in 90 days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589520" y="3291840"/>
            <a:ext cx="10972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89520" y="32918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384048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3886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 stability rate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589520" y="3931920"/>
            <a:ext cx="109728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0" y="3931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99.9%+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54880" y="4572000"/>
            <a:ext cx="4114800" cy="438912"/>
          </a:xfrm>
          <a:prstGeom prst="rect">
            <a:avLst/>
          </a:prstGeom>
          <a:solidFill>
            <a:srgbClr val="FEF9C3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45902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risk is real, quantifiable, and manageable with the right monitoring system.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Executive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2651760" cy="1600200"/>
          </a:xfrm>
          <a:prstGeom prst="rect">
            <a:avLst/>
          </a:prstGeom>
          <a:solidFill>
            <a:srgbClr val="162D47"/>
          </a:solidFill>
          <a:ln w="12700">
            <a:solidFill>
              <a:srgbClr val="2E4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347472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KPI Monitor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62456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peg deviation, volume, stability score updated per scenario parameters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960120"/>
            <a:ext cx="2651760" cy="1600200"/>
          </a:xfrm>
          <a:prstGeom prst="rect">
            <a:avLst/>
          </a:prstGeom>
          <a:solidFill>
            <a:srgbClr val="162D47"/>
          </a:solidFill>
          <a:ln w="12700">
            <a:solidFill>
              <a:srgbClr val="2E4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960120"/>
            <a:ext cx="2651760" cy="347472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960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Price History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362456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 with event overlays and custom alert threshold bands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960120"/>
            <a:ext cx="2651760" cy="1600200"/>
          </a:xfrm>
          <a:prstGeom prst="rect">
            <a:avLst/>
          </a:prstGeom>
          <a:solidFill>
            <a:srgbClr val="162D47"/>
          </a:solidFill>
          <a:ln w="12700">
            <a:solidFill>
              <a:srgbClr val="2E4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960120"/>
            <a:ext cx="2651760" cy="347472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960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Risk Gauge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09360" y="1362456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0–100 risk score from volume, sentiment, and regulatory inputs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2651760" cy="1600200"/>
          </a:xfrm>
          <a:prstGeom prst="rect">
            <a:avLst/>
          </a:prstGeom>
          <a:solidFill>
            <a:srgbClr val="162D47"/>
          </a:solidFill>
          <a:ln w="12700">
            <a:solidFill>
              <a:srgbClr val="2E4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2651760" cy="347472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80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Scenario Forecast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82696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Bull/Base/Bear, choose model and horizon (7–90 days)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162D47"/>
          </a:solidFill>
          <a:ln w="12700">
            <a:solidFill>
              <a:srgbClr val="2E4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2880360"/>
            <a:ext cx="2651760" cy="347472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880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🎚️ Sensitivity Sliders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282696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sensitivity charts update as user adjusts volume/fear/reg inputs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880360"/>
            <a:ext cx="2651760" cy="1600200"/>
          </a:xfrm>
          <a:prstGeom prst="rect">
            <a:avLst/>
          </a:prstGeom>
          <a:solidFill>
            <a:srgbClr val="162D47"/>
          </a:solidFill>
          <a:ln w="12700">
            <a:solidFill>
              <a:srgbClr val="2E4F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880360"/>
            <a:ext cx="2651760" cy="347472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28803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Model Table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282696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table with colour-coded best metrics highlighted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streamlit run streamlit_app.py  |  Built with Python + Streamlit + Matplotlib + Statsmodels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1965960" cy="356616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196596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Institutions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16916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Multi-stablecoin diversification (USDT/USDC/DAI split)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670048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97480"/>
            <a:ext cx="16916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LSTM forecasting into treasury monitoring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96312" y="914400"/>
            <a:ext cx="1965960" cy="356616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96312" y="914400"/>
            <a:ext cx="19659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914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Exchanges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87752" y="1481328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508760"/>
            <a:ext cx="16916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Pre-position 3% volume liquidity buffer at 2.5× volume spike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87752" y="2670048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33472" y="2697480"/>
            <a:ext cx="16916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Circuit breaker at 50 bps de-peg for 15+ minutes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72584" y="914400"/>
            <a:ext cx="1965960" cy="35661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72584" y="914400"/>
            <a:ext cx="196596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72584" y="914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Regulators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64024" y="1481328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9744" y="1508760"/>
            <a:ext cx="16916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Mandate monthly third-party reserve attestations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64024" y="2670048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697480"/>
            <a:ext cx="16916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Classify USDT as systemically important (MiCA-aligned)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48856" y="914400"/>
            <a:ext cx="1965960" cy="3566160"/>
          </a:xfrm>
          <a:prstGeom prst="rect">
            <a:avLst/>
          </a:prstGeom>
          <a:solidFill>
            <a:srgbClr val="F0FDF4"/>
          </a:solidFill>
          <a:ln w="12700">
            <a:solidFill>
              <a:srgbClr val="26A1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48856" y="914400"/>
            <a:ext cx="1965960" cy="457200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914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Operations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40296" y="1481328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86016" y="1508760"/>
            <a:ext cx="16916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Alert at ±15 bps, emergency protocol at ±30 bps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40296" y="2670048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86016" y="2697480"/>
            <a:ext cx="169164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Streamlit dashboard for non-technical executives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617720"/>
            <a:ext cx="8503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360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ROI: Monitoring cost ~0.1% of USDT exposure vs potential 60+ bps loss on large positions during tail events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371600"/>
            <a:ext cx="7315200" cy="7315200"/>
          </a:xfrm>
          <a:prstGeom prst="ellipse">
            <a:avLst/>
          </a:prstGeom>
          <a:solidFill>
            <a:srgbClr val="162D47"/>
          </a:solidFill>
          <a:ln w="12700">
            <a:solidFill>
              <a:srgbClr val="162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4114800" cy="36576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1612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Built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4356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ARIMA, Prophet, and LSTM — each serving a distinct forecasting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892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Scenarios Designed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1671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Bull, Base, Bear scenarios with calibrated de-peg outcomes and assumptions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6243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Quantified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8986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risk factors ranked by de-peg impact; regulatory risk is the dominant driver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3558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Deployed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6301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enables non-technical executives to run simulations live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087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Made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3616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guidance for institutions, exchanges, and regulators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26A17B"/>
          </a:solidFill>
          <a:ln w="12700">
            <a:solidFill>
              <a:srgbClr val="26A1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ECON5380 Group Project  •  Group 3: Tether (USDT)  •  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USDT Forecasting — ECON5380 Group Project</dc:title>
  <dc:subject>PptxGenJS Presentation</dc:subject>
  <dc:creator>ECON5380 Group 3</dc:creator>
  <cp:lastModifiedBy>ECON5380 Group 3</cp:lastModifiedBy>
  <cp:revision>1</cp:revision>
  <dcterms:created xsi:type="dcterms:W3CDTF">2026-05-05T03:11:00Z</dcterms:created>
  <dcterms:modified xsi:type="dcterms:W3CDTF">2026-05-05T03:11:00Z</dcterms:modified>
</cp:coreProperties>
</file>